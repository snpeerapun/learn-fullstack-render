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image" Target="../media/image-31-4.png"/><Relationship Id="rId5" Type="http://schemas.openxmlformats.org/officeDocument/2006/relationships/image" Target="../media/image-3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คอร์ส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เขียน App ครบวงจร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97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02C3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Code → Deploy Server → Google Play → App Store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3832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PostgreSQL · Node.js · React · Flutter · Render · Play Console · App Store Connect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4297680"/>
            <a:ext cx="640080" cy="640080"/>
          </a:xfrm>
          <a:prstGeom prst="ellipse">
            <a:avLst/>
          </a:prstGeom>
          <a:solidFill>
            <a:srgbClr val="2B3A80"/>
          </a:solidFill>
          <a:ln w="12700">
            <a:solidFill>
              <a:srgbClr val="2B3A8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61" y="4464101"/>
            <a:ext cx="307238" cy="30723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417320" y="4297680"/>
            <a:ext cx="640080" cy="640080"/>
          </a:xfrm>
          <a:prstGeom prst="ellipse">
            <a:avLst/>
          </a:prstGeom>
          <a:solidFill>
            <a:srgbClr val="2B3A80"/>
          </a:solidFill>
          <a:ln w="12700">
            <a:solidFill>
              <a:srgbClr val="2B3A8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3741" y="4464101"/>
            <a:ext cx="307238" cy="30723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286000" y="4297680"/>
            <a:ext cx="640080" cy="640080"/>
          </a:xfrm>
          <a:prstGeom prst="ellipse">
            <a:avLst/>
          </a:prstGeom>
          <a:solidFill>
            <a:srgbClr val="2B3A80"/>
          </a:solidFill>
          <a:ln w="12700">
            <a:solidFill>
              <a:srgbClr val="2B3A80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2421" y="4464101"/>
            <a:ext cx="307238" cy="30723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3154680" y="4297680"/>
            <a:ext cx="640080" cy="640080"/>
          </a:xfrm>
          <a:prstGeom prst="ellipse">
            <a:avLst/>
          </a:prstGeom>
          <a:solidFill>
            <a:srgbClr val="2B3A80"/>
          </a:solidFill>
          <a:ln w="12700">
            <a:solidFill>
              <a:srgbClr val="2B3A80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21101" y="4464101"/>
            <a:ext cx="307238" cy="307238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4023360" y="4297680"/>
            <a:ext cx="640080" cy="640080"/>
          </a:xfrm>
          <a:prstGeom prst="ellipse">
            <a:avLst/>
          </a:prstGeom>
          <a:solidFill>
            <a:srgbClr val="2B3A80"/>
          </a:solidFill>
          <a:ln w="12700">
            <a:solidFill>
              <a:srgbClr val="2B3A80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89781" y="4464101"/>
            <a:ext cx="307238" cy="307238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4892040" y="4297680"/>
            <a:ext cx="640080" cy="640080"/>
          </a:xfrm>
          <a:prstGeom prst="ellipse">
            <a:avLst/>
          </a:prstGeom>
          <a:solidFill>
            <a:srgbClr val="2B3A80"/>
          </a:solidFill>
          <a:ln w="12700">
            <a:solidFill>
              <a:srgbClr val="2B3A80"/>
            </a:solidFill>
            <a:prstDash val="solid"/>
          </a:ln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8461" y="4464101"/>
            <a:ext cx="307238" cy="307238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5760720" y="4297680"/>
            <a:ext cx="640080" cy="640080"/>
          </a:xfrm>
          <a:prstGeom prst="ellipse">
            <a:avLst/>
          </a:prstGeom>
          <a:solidFill>
            <a:srgbClr val="2B3A80"/>
          </a:solidFill>
          <a:ln w="12700">
            <a:solidFill>
              <a:srgbClr val="2B3A80"/>
            </a:solidFill>
            <a:prstDash val="solid"/>
          </a:ln>
        </p:spPr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7141" y="4464101"/>
            <a:ext cx="307238" cy="307238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ตัวอย่างประกอบทั้งคอร์ส: learn-fullstack (Todo app) · github.com/snpeerapun/learn-fullstack-render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LEARNING OUTCOMES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จบคอร์สแล้วผู้เรียนจะได้อะไร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67864" cy="3383280"/>
          </a:xfrm>
          <a:prstGeom prst="roundRect">
            <a:avLst>
              <a:gd name="adj" fmla="val 427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822960" cy="822960"/>
          </a:xfrm>
          <a:prstGeom prst="ellipse">
            <a:avLst/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199705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83464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เขียนแอปครบ 4 ชั้น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11880"/>
            <a:ext cx="2019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ฐานข้อมูล PostgreSQL, API ด้วย Node.js, เว็บ React และแอปมือถือ Flutter ที่ใช้ข้อมูลชุดเดียวกัน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390824" y="1463040"/>
            <a:ext cx="2567864" cy="3383280"/>
          </a:xfrm>
          <a:prstGeom prst="roundRect">
            <a:avLst>
              <a:gd name="adj" fmla="val 427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65144" y="1783080"/>
            <a:ext cx="822960" cy="822960"/>
          </a:xfrm>
          <a:prstGeom prst="ellipse">
            <a:avLst/>
          </a:prstGeom>
          <a:solidFill>
            <a:srgbClr val="DDF7F0"/>
          </a:solidFill>
          <a:ln w="12700">
            <a:solidFill>
              <a:srgbClr val="DDF7F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9113" y="199705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65144" y="283464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Deploy ขึ้น server จริง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3665144" y="3611880"/>
            <a:ext cx="2019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 URL https ใช้งานได้ทันที เข้าใจ environment variable, build/start command, health check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33008" y="1463040"/>
            <a:ext cx="2567864" cy="3383280"/>
          </a:xfrm>
          <a:prstGeom prst="roundRect">
            <a:avLst>
              <a:gd name="adj" fmla="val 427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507328" y="1783080"/>
            <a:ext cx="822960" cy="822960"/>
          </a:xfrm>
          <a:prstGeom prst="ellipse">
            <a:avLst/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297" y="1997050"/>
            <a:ext cx="395021" cy="39502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507328" y="283464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ปล่อยแอปบน Google Play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6507328" y="3611880"/>
            <a:ext cx="2019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ตั้งบัญชี, เซ็น AAB, กรอก Data safety, ผ่าน closed testing ไปถึง production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9075191" y="1463040"/>
            <a:ext cx="2567864" cy="3383280"/>
          </a:xfrm>
          <a:prstGeom prst="roundRect">
            <a:avLst>
              <a:gd name="adj" fmla="val 427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349511" y="1783080"/>
            <a:ext cx="822960" cy="822960"/>
          </a:xfrm>
          <a:prstGeom prst="ellipse">
            <a:avLst/>
          </a:prstGeom>
          <a:solidFill>
            <a:srgbClr val="DDF7F0"/>
          </a:solidFill>
          <a:ln w="12700">
            <a:solidFill>
              <a:srgbClr val="DDF7F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63481" y="1997050"/>
            <a:ext cx="395021" cy="39502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349511" y="2834640"/>
            <a:ext cx="2019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ปล่อยแอปบน App Store</a:t>
            </a:r>
            <a:endParaRPr lang="en-US" sz="1800" dirty="0"/>
          </a:p>
        </p:txBody>
      </p:sp>
      <p:sp>
        <p:nvSpPr>
          <p:cNvPr id="23" name="Text 17"/>
          <p:cNvSpPr txBox="1"/>
          <p:nvPr/>
        </p:nvSpPr>
        <p:spPr>
          <a:xfrm>
            <a:off x="9349511" y="3611880"/>
            <a:ext cx="2019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certificate/provisioning, TestFlight, privacy label, ส่ง review และรับมือกับ reject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คอร์สเขียน App ครบวงจร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ภาพรวมระบบที่เราจะสร้าง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4206240" cy="1188720"/>
          </a:xfrm>
          <a:prstGeom prst="roundRect">
            <a:avLst>
              <a:gd name="adj" fmla="val 9231"/>
            </a:avLst>
          </a:prstGeom>
          <a:solidFill>
            <a:srgbClr val="EEF3FD"/>
          </a:solidFill>
          <a:ln w="9525">
            <a:solidFill>
              <a:srgbClr val="EEF3F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8745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3661" y="204094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874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React web (Vite)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240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หน้าเว็บ เรียก API ด้วย fetch · deploy เป็น Static Site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436815" y="1645920"/>
            <a:ext cx="4206240" cy="1188720"/>
          </a:xfrm>
          <a:prstGeom prst="roundRect">
            <a:avLst>
              <a:gd name="adj" fmla="val 9231"/>
            </a:avLst>
          </a:prstGeom>
          <a:solidFill>
            <a:srgbClr val="EEF3FD"/>
          </a:solidFill>
          <a:ln w="9525">
            <a:solidFill>
              <a:srgbClr val="EEF3FD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665415" y="18745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1836" y="204094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442655" y="1874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Flutter mobile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8442655" y="2240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iOS + Android · ใช้ API เดียวกัน · ขึ้น 2 สโตร์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3718408" y="3474720"/>
            <a:ext cx="4754880" cy="1188720"/>
          </a:xfrm>
          <a:prstGeom prst="roundRect">
            <a:avLst>
              <a:gd name="adj" fmla="val 9231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947008" y="37033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3428" y="386974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724248" y="3703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Node.js API (Express)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4724248" y="40690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REST 5 เส้น · ตรวจ input · ตอบ JSON · PORT จาก env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3718408" y="5303520"/>
            <a:ext cx="4754880" cy="1188720"/>
          </a:xfrm>
          <a:prstGeom prst="roundRect">
            <a:avLst>
              <a:gd name="adj" fmla="val 9231"/>
            </a:avLst>
          </a:prstGeom>
          <a:solidFill>
            <a:srgbClr val="02C39A"/>
          </a:solidFill>
          <a:ln w="9525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3947008" y="553212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3428" y="569854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724248" y="55321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PostgreSQL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4724248" y="589788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ตาราง todos · Render Postgres (ฟรี) หรือ Docker ในเครื่อง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2651760" y="2834640"/>
            <a:ext cx="2712568" cy="6400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5" name="Shape 19"/>
          <p:cNvSpPr/>
          <p:nvPr/>
        </p:nvSpPr>
        <p:spPr>
          <a:xfrm>
            <a:off x="9539935" y="2834640"/>
            <a:ext cx="-2712568" cy="6400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6" name="Shape 20"/>
          <p:cNvSpPr/>
          <p:nvPr/>
        </p:nvSpPr>
        <p:spPr>
          <a:xfrm>
            <a:off x="6095848" y="4663440"/>
            <a:ext cx="0" cy="6400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7" name="Text 21"/>
          <p:cNvSpPr txBox="1"/>
          <p:nvPr/>
        </p:nvSpPr>
        <p:spPr>
          <a:xfrm>
            <a:off x="1828800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HTTP / JSON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8534095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HTTP / JSON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6233008" y="48463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SQL</a:t>
            </a:r>
            <a:endParaRPr lang="en-US" sz="1100" dirty="0"/>
          </a:p>
        </p:txBody>
      </p:sp>
      <p:sp>
        <p:nvSpPr>
          <p:cNvPr id="30" name="Text 24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คอร์สเขียน App ครบวงจร</a:t>
            </a:r>
            <a:endParaRPr lang="en-US" sz="900" dirty="0"/>
          </a:p>
        </p:txBody>
      </p:sp>
      <p:sp>
        <p:nvSpPr>
          <p:cNvPr id="31" name="Text 25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โครงสร้างคอร์ส 5 โมดูล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566642" y="2103120"/>
            <a:ext cx="9058412" cy="0"/>
          </a:xfrm>
          <a:prstGeom prst="line">
            <a:avLst/>
          </a:prstGeom>
          <a:noFill/>
          <a:ln w="254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46602" y="178308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46602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2036003" cy="237744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77240" y="2926080"/>
            <a:ext cx="15788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เขียนแอป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703320"/>
            <a:ext cx="157880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DB → API → Web → Mobile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572000"/>
            <a:ext cx="15788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 ชม.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11205" y="1783080"/>
            <a:ext cx="640080" cy="640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11205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813243" y="2743200"/>
            <a:ext cx="2036003" cy="237744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041843" y="2926080"/>
            <a:ext cx="15788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Deploy server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041843" y="3703320"/>
            <a:ext cx="157880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Render / VPS · env · verify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041843" y="4572000"/>
            <a:ext cx="15788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 ชม.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775808" y="1783080"/>
            <a:ext cx="640080" cy="640080"/>
          </a:xfrm>
          <a:prstGeom prst="ellipse">
            <a:avLst/>
          </a:prstGeom>
          <a:solidFill>
            <a:srgbClr val="01875F"/>
          </a:solidFill>
          <a:ln w="12700">
            <a:solidFill>
              <a:srgbClr val="01875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75808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077846" y="2743200"/>
            <a:ext cx="2036003" cy="237744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5306446" y="2926080"/>
            <a:ext cx="15788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Google Play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5306446" y="3703320"/>
            <a:ext cx="157880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บัญชี · AAB · Console · testing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306446" y="4572000"/>
            <a:ext cx="15788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 ชม.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040411" y="1783080"/>
            <a:ext cx="640080" cy="640080"/>
          </a:xfrm>
          <a:prstGeom prst="ellips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040411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342449" y="2743200"/>
            <a:ext cx="2036003" cy="237744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7571049" y="2926080"/>
            <a:ext cx="15788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 Store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7571049" y="3703320"/>
            <a:ext cx="157880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Apple Dev · TestFlight · Review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7571049" y="4572000"/>
            <a:ext cx="15788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 ชม.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0305014" y="1783080"/>
            <a:ext cx="640080" cy="6400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305014" y="17830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9607052" y="2743200"/>
            <a:ext cx="2036003" cy="237744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9835652" y="2926080"/>
            <a:ext cx="15788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หลังปล่อย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9835652" y="3703320"/>
            <a:ext cx="1578803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version · monitor · update</a:t>
            </a:r>
            <a:endParaRPr lang="en-US" sz="1200" dirty="0"/>
          </a:p>
        </p:txBody>
      </p:sp>
      <p:sp>
        <p:nvSpPr>
          <p:cNvPr id="34" name="Text 32"/>
          <p:cNvSpPr txBox="1"/>
          <p:nvPr/>
        </p:nvSpPr>
        <p:spPr>
          <a:xfrm>
            <a:off x="9835652" y="4572000"/>
            <a:ext cx="157880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1.5 ชม.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55778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 ~16.5 ชั่วโมง (5 คาบ ×  ~3 ชม. + workshop) · ทุกโมดูลลงมือทำจริงกับโปรเจกต์เดียวต่อเนื่องจนถึงสโตร์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คอร์สเขียน App ครบวงจร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โมดูล 1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เขียนแอปครบ 4 ชั้น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PostgreSQL → Node.js API → React web → Flutter mobile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โปรเจกต์ตัวอย่าง: Todo list ที่เว็บและมือถือใช้ข้อมูลเดียวกัน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31375" y="2194560"/>
            <a:ext cx="2011680" cy="2011680"/>
          </a:xfrm>
          <a:prstGeom prst="ellipse">
            <a:avLst/>
          </a:prstGeom>
          <a:solidFill>
            <a:srgbClr val="2B3A80"/>
          </a:solidFill>
          <a:ln w="12700">
            <a:solidFill>
              <a:srgbClr val="2B3A8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4412" y="2717597"/>
            <a:ext cx="965606" cy="9656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MODULE 1 · DATABASE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ชั้นที่ 1 — PostgreSQL: ตารางเดียวก็เริ่มได้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669280" cy="2834640"/>
          </a:xfrm>
          <a:prstGeom prst="roundRect">
            <a:avLst>
              <a:gd name="adj" fmla="val 3871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IF NOT EXISTS todos 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        SERIAL PRIMARY KEY,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title      TEXT NOT NULL,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done       BOOLEAN NOT NULL DEFAULT false,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created_at TIMESTAMPTZ NOT NULL DEFAULT now()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75120" y="1463040"/>
            <a:ext cx="502920" cy="502920"/>
          </a:xfrm>
          <a:prstGeom prst="ellipse">
            <a:avLst/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5879" y="1593799"/>
            <a:ext cx="241402" cy="24140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0" y="144475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SERIAL = DB ออกเลข id เอง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315200" y="175564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ไม่ต้องคิดเลขเองใน code, ไม่ชนกันแม้หลายคนเพิ่มพร้อมกัน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675120" y="2157984"/>
            <a:ext cx="502920" cy="502920"/>
          </a:xfrm>
          <a:prstGeom prst="ellipse">
            <a:avLst/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5879" y="2288743"/>
            <a:ext cx="241402" cy="2414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15200" y="213969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DEFAULT now() = DB ประทับเวลา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315200" y="245059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เวลาเดียวกันทุก client ไม่พึ่งนาฬิกาเครื่องผู้ใช้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675120" y="2852928"/>
            <a:ext cx="502920" cy="502920"/>
          </a:xfrm>
          <a:prstGeom prst="ellipse">
            <a:avLst/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5879" y="2983687"/>
            <a:ext cx="241402" cy="24140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315200" y="283464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IF NOT EXISTS รันซ้ำได้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7315200" y="314553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วางไว้ตอน server เริ่ม → เครื่องใหม่ก็มีตารางเองอัตโนมัติ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675120" y="3547872"/>
            <a:ext cx="502920" cy="502920"/>
          </a:xfrm>
          <a:prstGeom prst="ellipse">
            <a:avLst/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5879" y="3678631"/>
            <a:ext cx="241402" cy="241402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315200" y="352958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DATABASE_URL อยู่ใน env เสมอ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7315200" y="3840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postgres://user:pass@host:5432/db · ห้าม hardcode ใน code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548640" y="4572000"/>
            <a:ext cx="11094415" cy="1280160"/>
          </a:xfrm>
          <a:prstGeom prst="roundRect">
            <a:avLst>
              <a:gd name="adj" fmla="val 8571"/>
            </a:avLst>
          </a:prstGeom>
          <a:solidFill>
            <a:srgbClr val="DDF7F0"/>
          </a:solidFill>
          <a:ln w="9525">
            <a:solidFill>
              <a:srgbClr val="DDF7F0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822960" y="47091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Workshop 1.1 — รัน Postgres ในเครื่องด้วย Docker (ไม่ต้องติดตั้ง Postgres)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822960" y="50749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--name learn-todo-pg -e POSTGRES_PASSWORD=postgres -e POSTGRES_DB=learn_todo -p 127.0.0.1:5439:5432 postgres:16-alpine</a:t>
            </a:r>
            <a:endParaRPr lang="en-US" sz="12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คอร์สเขียน App ครบวงจร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MODULE 1 · BACKEND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ชั้นที่ 2 — Node.js API: 5 เส้นครอบ CRUD ทั้งหมด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4008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554480"/>
                <a:gridCol w="2377440"/>
                <a:gridCol w="15544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Method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Path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ทำอะไร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ตอบกลับ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GET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/api/health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เช็คว่า API + DB ยังอยู่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{ ok: true, dbTime }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GET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/api/todos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รายการทั้งหมด (ใหม่สุดก่อน)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[ {...}, {...} ]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POST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/api/todos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เพิ่ม { title }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201 + รายการใหม่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PATCH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/api/todos/:id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แก้ { done } หรือ { title }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รายการที่แก้แล้ว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DELETE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/api/todos/:id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ลบ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204 (ไม่มี body)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406640" y="1463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จุดที่ต้องสอนให้ติดเป็นนิสัย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406640" y="1920240"/>
            <a:ext cx="4663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Parameterized query ($1, $2) — ห้ามต่อ string เป็น SQL เอง (SQL injection)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 input ก่อนลง DB → 400 พร้อมข้อความชัด · ไม่พบ → 404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ห่อ async handler ให้ error ไหลไป error middleware (Express 4 ไม่ทำให้เอง)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PORT อ่านจาก env — host กำหนดพอร์ตให้เอง ห้าม hardcode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 CORS เพราะเว็บกับ API อยู่คนละโดเมน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4206240"/>
            <a:ext cx="6400800" cy="1554480"/>
          </a:xfrm>
          <a:prstGeom prst="roundRect">
            <a:avLst>
              <a:gd name="adj" fmla="val 7059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434340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Workshop 1.2 - curl: prove the data lands in the DB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-X POST localhost:3000/api/todos -H 'Content-Type: application/json' -d '{"title":"Buy milk"}'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localhost:3000/api/todos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-X PATCH localhost:3000/api/todos/1 -d '{"done":true}' -H 'Content-Type: application/json'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คอร์สเขียน App ครบวงจร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MODULE 1 · FRONTEND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ชั้นที่ 3 — React web: 3 ไฟล์ที่ต้องอ่านให้เข้าใจ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5836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91640"/>
            <a:ext cx="594360" cy="594360"/>
          </a:xfrm>
          <a:prstGeom prst="ellipse">
            <a:avLst/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774" y="184617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62763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src/api.js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19659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รวมทุก fetch ไว้ที่เดียว อ่าน base URL จาก VITE_API_URL → หน้า UI ไม่ต้องรู้ว่า server อยู่ไหน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697480"/>
            <a:ext cx="65836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926080"/>
            <a:ext cx="594360" cy="594360"/>
          </a:xfrm>
          <a:prstGeom prst="ellipse">
            <a:avLst/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774" y="308061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286207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src/App.jsx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554480" y="320040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useState เก็บรายการ · useEffect โหลดครั้งแรก · add/toggle/delete อัปเดต state ทันที (optimistic UI)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931920"/>
            <a:ext cx="658368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4160520"/>
            <a:ext cx="594360" cy="594360"/>
          </a:xfrm>
          <a:prstGeom prst="ellipse">
            <a:avLst/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4" y="431505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409651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vite.config.js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443484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proxy /api → localhost:3000 ตอน dev จึงไม่ติด CORS · npm run build ได้โฟลเดอร์ dist/ เป็น static</a:t>
            </a:r>
            <a:endParaRPr lang="en-US" sz="1200" dirty="0"/>
          </a:p>
        </p:txBody>
      </p:sp>
      <p:pic>
        <p:nvPicPr>
          <p:cNvPr id="19" name="Image 3" descr="/Users/peerapuns/e-learning/ทำ apps /learn-fullstack/docs/we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1463040"/>
            <a:ext cx="4572000" cy="355701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589520" y="5120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หน้าเว็บจริงที่ deploy แล้ว: learn-todo-web.onrender.com</a:t>
            </a:r>
            <a:endParaRPr lang="en-US" sz="110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คอร์สเขียน App ครบวงจร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MODULE 1 · MOBILE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ชั้นที่ 4 — Flutter: ไฟล์เดียว แบ่ง 5 ส่วนสอนทีละส่วน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463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Config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176479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apiUrl จาก --dart-define (เทียบเท่า env ของ Node)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194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Model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249631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class Todo + fromJson แปลง JSON → object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9718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2926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Service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322783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class TodoApi รวม HTTP call (คู่แฝดของ api.js)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0332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36576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395935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MaterialApp + theme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43891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Page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188720" y="469087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StatefulWidget · setState เมื่อข้อมูลเปลี่ยน · RefreshIndicator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212080"/>
            <a:ext cx="6766560" cy="640080"/>
          </a:xfrm>
          <a:prstGeom prst="roundRect">
            <a:avLst>
              <a:gd name="adj" fmla="val 17143"/>
            </a:avLst>
          </a:prstGeom>
          <a:solidFill>
            <a:srgbClr val="FEF3C7"/>
          </a:solidFill>
          <a:ln w="9525">
            <a:solidFill>
              <a:srgbClr val="FEF3C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532180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Android emulator ต่อ localhost ของเครื่องต้องใช้ 10.0.2.2 แทน localhost · iOS simulator ใช้ localhost ได้เลย</a:t>
            </a:r>
            <a:endParaRPr lang="en-US" sz="1200" dirty="0"/>
          </a:p>
        </p:txBody>
      </p:sp>
      <p:pic>
        <p:nvPicPr>
          <p:cNvPr id="26" name="Image 0" descr="/Users/peerapuns/e-learning/ทำ apps /learn-fullstack/docs/mobi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778240" y="1371600"/>
            <a:ext cx="2103120" cy="4572000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8138160" y="59893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ข้อมูลชุดเดียวกับเว็บ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คอร์สเขียน App ครบวงจร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MODULE 1 · HANDS-ON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Workshop โมดูล 1 — เห็นข้อมูลไหลครบทั้งสาย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999427" cy="2194560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36874" y="1737360"/>
            <a:ext cx="822960" cy="822960"/>
          </a:xfrm>
          <a:prstGeom prst="ellipse">
            <a:avLst/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0843" y="1951330"/>
            <a:ext cx="395021" cy="39502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697480"/>
            <a:ext cx="17251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curl POST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063240"/>
            <a:ext cx="17251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เพิ่มรายการผ่าน API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548067" y="256032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822387" y="1463040"/>
            <a:ext cx="1999427" cy="2194560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10621" y="1737360"/>
            <a:ext cx="822960" cy="822960"/>
          </a:xfrm>
          <a:prstGeom prst="ellipse">
            <a:avLst/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4590" y="1951330"/>
            <a:ext cx="395021" cy="395021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959547" y="2697480"/>
            <a:ext cx="17251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ดูใน DB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2959547" y="3063240"/>
            <a:ext cx="17251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SELECT * FROM todos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821814" y="256032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5096134" y="1463040"/>
            <a:ext cx="1999427" cy="2194560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684368" y="1737360"/>
            <a:ext cx="822960" cy="822960"/>
          </a:xfrm>
          <a:prstGeom prst="ellipse">
            <a:avLst/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8337" y="1951330"/>
            <a:ext cx="395021" cy="395021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233294" y="2697480"/>
            <a:ext cx="17251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เปิดเว็บ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5233294" y="3063240"/>
            <a:ext cx="17251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รายการโผล่ทันที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7095561" y="256032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7369881" y="1463040"/>
            <a:ext cx="1999427" cy="2194560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958115" y="1737360"/>
            <a:ext cx="822960" cy="822960"/>
          </a:xfrm>
          <a:prstGeom prst="ellipse">
            <a:avLst/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2084" y="1951330"/>
            <a:ext cx="395021" cy="395021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507041" y="2697480"/>
            <a:ext cx="17251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เปิดแอป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7507041" y="3063240"/>
            <a:ext cx="17251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ดึงลงรีเฟรช เห็นชุดเดียวกัน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9369308" y="256032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9643628" y="1463040"/>
            <a:ext cx="1999427" cy="2194560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231862" y="1737360"/>
            <a:ext cx="822960" cy="822960"/>
          </a:xfrm>
          <a:prstGeom prst="ellipse">
            <a:avLst/>
          </a:prstGeom>
          <a:solidFill>
            <a:srgbClr val="DDF7F0"/>
          </a:solidFill>
          <a:ln w="12700">
            <a:solidFill>
              <a:srgbClr val="DDF7F0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5831" y="1951330"/>
            <a:ext cx="395021" cy="395021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780788" y="2697480"/>
            <a:ext cx="17251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ติ๊กบนมือถือ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9780788" y="3063240"/>
            <a:ext cx="172510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รีเฟรชเว็บ → เสร็จแล้ว</a:t>
            </a:r>
            <a:endParaRPr lang="en-US" sz="1200" dirty="0"/>
          </a:p>
        </p:txBody>
      </p:sp>
      <p:sp>
        <p:nvSpPr>
          <p:cNvPr id="33" name="Text 26"/>
          <p:cNvSpPr txBox="1"/>
          <p:nvPr/>
        </p:nvSpPr>
        <p:spPr>
          <a:xfrm>
            <a:off x="54864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เกณฑ์ผ่าน (นักเรียนต้องแสดงให้ดู)</a:t>
            </a:r>
            <a:endParaRPr lang="en-US" sz="1600" dirty="0"/>
          </a:p>
        </p:txBody>
      </p:sp>
      <p:sp>
        <p:nvSpPr>
          <p:cNvPr id="34" name="Text 27"/>
          <p:cNvSpPr txBox="1"/>
          <p:nvPr/>
        </p:nvSpPr>
        <p:spPr>
          <a:xfrm>
            <a:off x="548640" y="4434840"/>
            <a:ext cx="1109441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ยิง input ผิด (title ว่าง) แล้ว API ตอบ 400 พร้อมข้อความ ไม่ใช่ 500 หรือค้าง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รีเฟรชหน้าเว็บแล้วข้อมูลยังอยู่ (มาจาก DB ไม่ใช่ state ในหน้า)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มือถือกับเว็บเห็นรายการเดียวกันโดยไม่ต้อง sync อะไรเพิ่ม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อธิบายได้ว่า DATABASE_URL, PORT, VITE_API_URL, API_URL แต่ละตัวอยู่ที่ไหน ใครอ่าน</a:t>
            </a:r>
            <a:endParaRPr lang="en-US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คอร์สเขียน App ครบวงจร</a:t>
            </a:r>
            <a:endParaRPr lang="en-US" sz="900" dirty="0"/>
          </a:p>
        </p:txBody>
      </p:sp>
      <p:sp>
        <p:nvSpPr>
          <p:cNvPr id="36" name="Text 29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โมดูล 2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Deploy ขึ้น server จริง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 localhost สู่ URL https ที่ใครก็เปิดได้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เข้าใจ env var, build/start command, health check และการตรวจว่า "ขึ้นจริง"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31375" y="2194560"/>
            <a:ext cx="2011680" cy="2011680"/>
          </a:xfrm>
          <a:prstGeom prst="ellipse">
            <a:avLst/>
          </a:prstGeom>
          <a:solidFill>
            <a:srgbClr val="2B3A80"/>
          </a:solidFill>
          <a:ln w="12700">
            <a:solidFill>
              <a:srgbClr val="2B3A8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4412" y="2717597"/>
            <a:ext cx="965606" cy="96560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MODULE 2 · HOSTING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เลือกที่วาง server: 3 ทางที่ใช้จริง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108960"/>
                <a:gridCol w="3566160"/>
                <a:gridCol w="29535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Render (PaaS)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VPS ของเราเอง (Docker + pm2 + nginx)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Serverless (Cloudflare / Vercel)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เหมาะกับ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สอน · test · demo · MVP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production หลายแอป ควบคุมได้ทุกอย่าง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เว็บ static + API เบา ๆ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ราคาเริ่ม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ฟรี (มีข้อจำกัด) · Starter ~$7/เดือน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$5–20/เดือน ทั้งเครื่อง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ฟรีถึงระดับหนึ่ง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ต้องดูแล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ไม่ต้อง — push แล้ว deploy เอง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OS, nginx, SSL, backup, pm2 ทั้งหมดเราทำเอง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ไม่ต้อง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Postgres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มีให้ (ฟรีหมดอายุ 30 วัน)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รัน container เอง มี backup เอง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ต้องใช้บริการ DB แยก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ข้อจำกัด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ฟรี = หลับหลัง 15 นาที ไม่มีคนใช้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ผิดพลาดง่ายถ้าไม่มีประสบการณ์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รัน Node เต็มรูปแบบไม่ได้ทุกอย่าง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663440"/>
            <a:ext cx="11094415" cy="1097280"/>
          </a:xfrm>
          <a:prstGeom prst="roundRect">
            <a:avLst>
              <a:gd name="adj" fmla="val 10000"/>
            </a:avLst>
          </a:prstGeom>
          <a:solidFill>
            <a:srgbClr val="DDF7F0"/>
          </a:solidFill>
          <a:ln w="9525">
            <a:solidFill>
              <a:srgbClr val="DDF7F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4800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ในคอร์สนี้ใช้ Render เป็นหลัก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513892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เพราะได้ URL จริงภายในนาที ไม่ต้องสอน Linux ก่อน และหลักการ (env, build, start, health) ย้ายไปใช้กับ VPS ได้ทั้งหมด · โมดูลเสริม: deploy เดียวกันบน VPS ด้วย pm2 + nginx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คอร์สเขียน App ครบวงจร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MODULE 2 · RENDER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Deploy บน Render: 3 บริการ 3 ขั้น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484778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DDF7F0"/>
          </a:solidFill>
          <a:ln w="12700">
            <a:solidFill>
              <a:srgbClr val="DDF7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9381" y="1903781"/>
            <a:ext cx="307238" cy="30723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847088"/>
            <a:ext cx="2204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 PostgreSQL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560320"/>
            <a:ext cx="293613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New → PostgreSQL · plan Free · region Singapore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ได้ Internal URL (ให้ API ใช้) และ External URL (ต่อจากเครื่องเรา)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External ต้องเปิด IP ใน Access Control ก่อน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53458" y="1463040"/>
            <a:ext cx="3484778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627778" y="1737360"/>
            <a:ext cx="640080" cy="640080"/>
          </a:xfrm>
          <a:prstGeom prst="ellipse">
            <a:avLst/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4199" y="190378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05018" y="1847088"/>
            <a:ext cx="2204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 Web Service (API)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627778" y="2560320"/>
            <a:ext cx="293613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เลือก repo · Root Directory = server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Build: npm install · Start: npm start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Env: DATABASE_URL = Internal URL, NODE_VERSION = 20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Health check path: /api/health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158277" y="1463040"/>
            <a:ext cx="3484778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432597" y="1737360"/>
            <a:ext cx="640080" cy="640080"/>
          </a:xfrm>
          <a:prstGeom prst="ellipse">
            <a:avLst/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9018" y="190378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209837" y="1847088"/>
            <a:ext cx="2204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 Static Site (web)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432597" y="2560320"/>
            <a:ext cx="293613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Root Directory = web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Build: npm install &amp;&amp; npm run build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Publish: dist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Env: VITE_API_URL = URL ของ API (ฝังตอน build)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548640" y="4983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ทำได้ 3 วิธี — สอนทั้งสาม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530352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A) คลิกใน Dashboard (ครั้งแรก เห็นทุกช่อง)   B) render.yaml Blueprint (infra เป็นไฟล์ในrepo)   C) สคริปต์ยิง Render API (deploy-render.sh — เข้าใจ automation)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คอร์สเขียน App ครบวงจร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MODULE 2 · CONFIG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Environment variables: ค่าที่ต่างกันทุกเครื่อง อยู่นอก code</a:t>
            </a:r>
            <a:endParaRPr lang="en-US" sz="3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560320"/>
                <a:gridCol w="3291840"/>
                <a:gridCol w="3044952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ตัวแปร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ใครอ่าน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ค่าตอน dev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ค่าบน Render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DATABASE_URL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server/src/db.js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postgres://…@localhost:5439/learn_todo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Internal URL ของ Render Postgres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PORT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server/src/index.js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3000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Render กำหนดเอง (อย่าตั้ง)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VITE_API_URL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web/src/api.js (ตอน build)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ว่าง → ใช้ proxy /api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https://learn-todo-api.onrender.com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API_URL (dart-define)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mobile/lib/main.dart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http://localhost:3000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https://learn-todo-api.onrender.com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114800"/>
            <a:ext cx="3515258" cy="1554480"/>
          </a:xfrm>
          <a:prstGeom prst="roundRect">
            <a:avLst>
              <a:gd name="adj" fmla="val 7059"/>
            </a:avLst>
          </a:prstGeom>
          <a:solidFill>
            <a:srgbClr val="EEF3FD"/>
          </a:solidFill>
          <a:ln w="9525">
            <a:solidFill>
              <a:srgbClr val="EEF3F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434340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9886" y="4486046"/>
            <a:ext cx="263347" cy="26334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4297680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.env ไม่ขึ้น git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1463040" y="4937760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 .gitignore + .env.example ให้เพื่อนก๊อป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338218" y="4114800"/>
            <a:ext cx="3515258" cy="1554480"/>
          </a:xfrm>
          <a:prstGeom prst="roundRect">
            <a:avLst>
              <a:gd name="adj" fmla="val 7059"/>
            </a:avLst>
          </a:prstGeom>
          <a:solidFill>
            <a:srgbClr val="EEF3FD"/>
          </a:solidFill>
          <a:ln w="9525">
            <a:solidFill>
              <a:srgbClr val="EEF3FD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566818" y="434340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465" y="4486046"/>
            <a:ext cx="263347" cy="263347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252618" y="4297680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Secret ไม่ print ออกจอ / ไม่ใส่ในสไลด์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5252618" y="4937760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แสดงแค่ host หรือ 4 ตัวท้าย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8127797" y="4114800"/>
            <a:ext cx="3515258" cy="1554480"/>
          </a:xfrm>
          <a:prstGeom prst="roundRect">
            <a:avLst>
              <a:gd name="adj" fmla="val 7059"/>
            </a:avLst>
          </a:prstGeom>
          <a:solidFill>
            <a:srgbClr val="EEF3FD"/>
          </a:solidFill>
          <a:ln w="9525">
            <a:solidFill>
              <a:srgbClr val="EEF3FD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56397" y="434340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9043" y="4486046"/>
            <a:ext cx="263347" cy="26334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042197" y="4297680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 env แล้วต้อง restart / rebuild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9042197" y="4937760"/>
            <a:ext cx="24179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ค่า VITE_* ฝังตอน build → ต้อง build ใหม่</a:t>
            </a:r>
            <a:endParaRPr lang="en-US" sz="1150" dirty="0"/>
          </a:p>
        </p:txBody>
      </p:sp>
      <p:sp>
        <p:nvSpPr>
          <p:cNvPr id="20" name="Text 14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คอร์สเขียน App ครบวงจร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MODULE 2 · VERIFY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"ขึ้นแล้ว" ต้องพิสูจน์ได้ ไม่ใช่แค่ build ผ่าน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1004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594360" cy="594360"/>
          </a:xfrm>
          <a:prstGeom prst="ellipse">
            <a:avLst/>
          </a:prstGeom>
          <a:solidFill>
            <a:srgbClr val="DDF7F0"/>
          </a:solidFill>
          <a:ln w="12700">
            <a:solidFill>
              <a:srgbClr val="DDF7F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774" y="193761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664208"/>
            <a:ext cx="422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curl /api/health ได้ ok:true + dbTime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10312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ยืนยันทั้ง API และ DB พร้อมกันในคำสั่งเดียว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33008" y="1463040"/>
            <a:ext cx="541004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61608" y="1783080"/>
            <a:ext cx="594360" cy="594360"/>
          </a:xfrm>
          <a:prstGeom prst="ellipse">
            <a:avLst/>
          </a:prstGeom>
          <a:solidFill>
            <a:srgbClr val="DDF7F0"/>
          </a:solidFill>
          <a:ln w="12700">
            <a:solidFill>
              <a:srgbClr val="DDF7F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141" y="193761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38848" y="1664208"/>
            <a:ext cx="422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ยิง CRUD จริงบน URL prod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238848" y="210312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POST → 201, PATCH, input ว่าง → 400, id ไม่มี → 404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2880360"/>
            <a:ext cx="541004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200400"/>
            <a:ext cx="594360" cy="594360"/>
          </a:xfrm>
          <a:prstGeom prst="ellipse">
            <a:avLst/>
          </a:prstGeom>
          <a:solidFill>
            <a:srgbClr val="DDF7F0"/>
          </a:solidFill>
          <a:ln w="12700">
            <a:solidFill>
              <a:srgbClr val="DDF7F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4" y="335493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081528"/>
            <a:ext cx="422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เปิดเว็บ ดู &lt;title&gt; และ badge API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352044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HTTP 200 อย่างเดียวหลอกได้ (อาจเป็นหน้าของแอปอื่น)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233008" y="2880360"/>
            <a:ext cx="541004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61608" y="3200400"/>
            <a:ext cx="594360" cy="594360"/>
          </a:xfrm>
          <a:prstGeom prst="ellipse">
            <a:avLst/>
          </a:prstGeom>
          <a:solidFill>
            <a:srgbClr val="DDF7F0"/>
          </a:solidFill>
          <a:ln w="12700">
            <a:solidFill>
              <a:srgbClr val="DDF7F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141" y="335493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38848" y="3081528"/>
            <a:ext cx="422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bundle ของเว็บชี้ API ถูกตัว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7238848" y="352044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grep URL ของ API ในไฟล์ .js ที่ build ออกมา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4297680"/>
            <a:ext cx="541004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77240" y="4617720"/>
            <a:ext cx="594360" cy="594360"/>
          </a:xfrm>
          <a:prstGeom prst="ellipse">
            <a:avLst/>
          </a:prstGeom>
          <a:solidFill>
            <a:srgbClr val="DDF7F0"/>
          </a:solidFill>
          <a:ln w="12700">
            <a:solidFill>
              <a:srgbClr val="DDF7F0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774" y="477225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554480" y="4498848"/>
            <a:ext cx="422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มือถือชี้ prod แล้วเห็นข้อมูลเดียวกัน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1554480" y="493776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flutter run --dart-define=API_URL=https://…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6233008" y="4297680"/>
            <a:ext cx="541004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61608" y="4617720"/>
            <a:ext cx="594360" cy="594360"/>
          </a:xfrm>
          <a:prstGeom prst="ellipse">
            <a:avLst/>
          </a:prstGeom>
          <a:solidFill>
            <a:srgbClr val="DDF7F0"/>
          </a:solidFill>
          <a:ln w="12700">
            <a:solidFill>
              <a:srgbClr val="DDF7F0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6141" y="4772254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238848" y="4498848"/>
            <a:ext cx="42213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รอเครื่องฟรีตื่น 30–50 วิ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7238848" y="4937760"/>
            <a:ext cx="42213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request แรกช้าเป็นเรื่องปกติของแผนฟรี ตั้ง timeout ให้พอ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คอร์สเขียน App ครบวงจร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โมดูล 3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ปล่อยแอปบน Google Play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บัญชีนักพัฒนา → เซ็นแอป (AAB) → Play Console → testing track → production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รวมกับดักที่ทำให้โดน reject บ่อยที่สุด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31375" y="2194560"/>
            <a:ext cx="2011680" cy="2011680"/>
          </a:xfrm>
          <a:prstGeom prst="ellipse">
            <a:avLst/>
          </a:prstGeom>
          <a:solidFill>
            <a:srgbClr val="1B5E43"/>
          </a:solidFill>
          <a:ln w="12700">
            <a:solidFill>
              <a:srgbClr val="1B5E4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4412" y="2717597"/>
            <a:ext cx="965606" cy="96560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MODULE 3 · GOOGLE PLAY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เตรียมก่อนแตะ Play Console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15258" cy="1554480"/>
          </a:xfrm>
          <a:prstGeom prst="roundRect">
            <a:avLst>
              <a:gd name="adj" fmla="val 7059"/>
            </a:avLst>
          </a:prstGeom>
          <a:solidFill>
            <a:srgbClr val="EEF3FD"/>
          </a:solidFill>
          <a:ln w="9525">
            <a:solidFill>
              <a:srgbClr val="EEF3F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187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$25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ค่าสมัครครั้งเดียว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33472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ตลอดชีพ ไม่มีรายปี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38218" y="1463040"/>
            <a:ext cx="3515258" cy="1554480"/>
          </a:xfrm>
          <a:prstGeom prst="roundRect">
            <a:avLst>
              <a:gd name="adj" fmla="val 7059"/>
            </a:avLst>
          </a:prstGeom>
          <a:solidFill>
            <a:srgbClr val="EEF3FD"/>
          </a:solidFill>
          <a:ln w="9525">
            <a:solidFill>
              <a:srgbClr val="EEF3F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2538" y="160020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187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 คน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612538" y="233172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ผู้ทดสอบ closed testing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12538" y="2633472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ต่อเนื่อง 14 วัน (บัญชีบุคคลที่สร้างหลัง พ.ย. 2023)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27797" y="1463040"/>
            <a:ext cx="3515258" cy="1554480"/>
          </a:xfrm>
          <a:prstGeom prst="roundRect">
            <a:avLst>
              <a:gd name="adj" fmla="val 7059"/>
            </a:avLst>
          </a:prstGeom>
          <a:solidFill>
            <a:srgbClr val="EEF3FD"/>
          </a:solidFill>
          <a:ln w="9525">
            <a:solidFill>
              <a:srgbClr val="EEF3F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02117" y="160020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0187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3–7 วัน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402117" y="233172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review รอบแรก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402117" y="2633472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รอบถัดไปมักไม่กี่ชั่วโมง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291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สิ่งที่ต้องมีก่อนสร้างแอปใน Console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3703320"/>
            <a:ext cx="6035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บัญชี Google + ยืนยันตัวตน (บัตรประชาชน) · บัญชีองค์กรต้องมีเลข D-U-N-S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Privacy policy URL ที่เปิดได้จริง (เว็บหน้าเดียวก็พอ) — บังคับทุกแอป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หน้า/URL สำหรับขอลบบัญชี ถ้าแอปมี login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ชื่อแพ็กเกจ (applicationId) ตั้งครั้งเดียว เปลี่ยนไม่ได้ตลอดชีพแอป เช่น com.oneable.learntodo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949440" y="3291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ทรัพย์สินสำหรับหน้าร้าน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949440" y="3703320"/>
            <a:ext cx="52120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ไอคอน 512×512 PNG (ไม่โปร่งใส) · Feature graphic 1024×500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สกรีนช็อตโทรศัพท์ ≥2 รูป (แนะนำ 4–8) สัดส่วน 16:9 หรือ 9:16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คำอธิบายสั้น ≤80 ตัวอักษร · คำอธิบายยาว ≤4000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launcher icon ในแอปต้องตรงกับไอคอนหน้าร้าน (ไม่ใช่ไอคอน Flutter เริ่มต้น)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คอร์สเขียน App ครบวงจร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MODULE 3 · BUILD &amp; SIGN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Build ให้สโตร์รับ: keystore · AAB · version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" cy="548640"/>
          </a:xfrm>
          <a:prstGeom prst="ellipse">
            <a:avLst/>
          </a:prstGeom>
          <a:solidFill>
            <a:srgbClr val="DDF7F0"/>
          </a:solidFill>
          <a:ln w="12700">
            <a:solidFill>
              <a:srgbClr val="DDF7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286" y="1605686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44475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 สร้าง upload keystore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76479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keytool -genkey … -alias upload · เก็บไฟล์ + รหัสไว้ 2 ที่ หายแล้วอัปเดตแอปไม่ได้ (Play App Signing ช่วยได้ถ้าลงทะเบียน)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304288"/>
            <a:ext cx="548640" cy="548640"/>
          </a:xfrm>
          <a:prstGeom prst="ellipse">
            <a:avLst/>
          </a:prstGeom>
          <a:solidFill>
            <a:srgbClr val="DDF7F0"/>
          </a:solidFill>
          <a:ln w="12700">
            <a:solidFill>
              <a:srgbClr val="DDF7F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86" y="2446934"/>
            <a:ext cx="263347" cy="26334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2860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2. key.properties + build.gradle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2606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ชี้ path keystore/รหัสจากไฟล์ที่ .gitignore ไว้ · signingConfigs.release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145536"/>
            <a:ext cx="548640" cy="548640"/>
          </a:xfrm>
          <a:prstGeom prst="ellipse">
            <a:avLst/>
          </a:prstGeom>
          <a:solidFill>
            <a:srgbClr val="DDF7F0"/>
          </a:solidFill>
          <a:ln w="12700">
            <a:solidFill>
              <a:srgbClr val="DDF7F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3288182"/>
            <a:ext cx="263347" cy="26334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12724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3. flutter build appbundle --release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344728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ได้ .aab (Play ไม่รับ .apk สำหรับแอปใหม่) · ส่ง --dart-define=API_URL=… ตัว prod ด้วย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3986784"/>
            <a:ext cx="548640" cy="548640"/>
          </a:xfrm>
          <a:prstGeom prst="ellipse">
            <a:avLst/>
          </a:prstGeom>
          <a:solidFill>
            <a:srgbClr val="DDF7F0"/>
          </a:solidFill>
          <a:ln w="12700">
            <a:solidFill>
              <a:srgbClr val="DDF7F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" y="4129430"/>
            <a:ext cx="263347" cy="26334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3968496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4. version: X.Y.Z+N ใน pubspec.yaml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1325880" y="4288536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+N (versionCode) ต้องเพิ่มทุกครั้งที่อัปโหลด ไม่ reset · X.Y.Z (versionName) ขยับเมื่อมีของใหม่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4828032"/>
            <a:ext cx="548640" cy="548640"/>
          </a:xfrm>
          <a:prstGeom prst="ellipse">
            <a:avLst/>
          </a:prstGeom>
          <a:solidFill>
            <a:srgbClr val="DDF7F0"/>
          </a:solidFill>
          <a:ln w="12700">
            <a:solidFill>
              <a:srgbClr val="DDF7F0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286" y="4970678"/>
            <a:ext cx="263347" cy="263347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325880" y="4809744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5. targetSdk ทันกำหนด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1325880" y="5129784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Play บังคับ target API ระดับล่าสุด−1 (ปี 2026 = API 36) แอปเก่าที่ไม่อัปเดตจะถูกซ่อนจากเครื่องใหม่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คอร์สเขียน App ครบวงจร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MODULE 3 · CONSOLE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Play Console: กรอกให้ครบ แล้วไล่ track จากในสู่นอก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567864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Internal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574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สูงสุด 100 คน · ขึ้นทันทีไม่รอ review · ทีมเราลองก่อนเสมอ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16504" y="224028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390824" y="1463040"/>
            <a:ext cx="2567864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619424" y="164592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Closed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3619424" y="20574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 ผู้ทดสอบ 14 วัน (บังคับสำหรับบัญชีใหม่) · ส่งลิงก์ให้กลุ่ม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58688" y="224028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33008" y="1463040"/>
            <a:ext cx="2567864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61608" y="164592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Open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461608" y="20574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ใครก็เข้าร่วมได้ · ไม่บังคับ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800871" y="224028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075191" y="1463040"/>
            <a:ext cx="2567864" cy="1600200"/>
          </a:xfrm>
          <a:prstGeom prst="roundRect">
            <a:avLst>
              <a:gd name="adj" fmla="val 6857"/>
            </a:avLst>
          </a:prstGeom>
          <a:solidFill>
            <a:srgbClr val="01875F"/>
          </a:solidFill>
          <a:ln w="9525">
            <a:solidFill>
              <a:srgbClr val="01875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303791" y="1645920"/>
            <a:ext cx="2110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Production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303791" y="2057400"/>
            <a:ext cx="21106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กด "ส่งเพื่อตรวจสอบ" → review → เผยแพร่ (ทยอย % ได้)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3383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แบบฟอร์มที่ต้องกรอกก่อนส่ง production (ทำได้ระหว่างรอ testing)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120640"/>
                <a:gridCol w="359359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หมวด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กรอกอะไร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ระวัง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Store listing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ชื่อ · คำอธิบาย · ไอคอน · สกรีนช็อต · หมวดหมู่ · อีเมลติดต่อ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ห้ามอ้างชื่อแบรนด์อื่น/รางวัลที่ไม่มี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Data safety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เก็บข้อมูลอะไร ส่งให้ใคร เข้ารหัสไหม ลบได้ไหม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ต้องตรงกับ privacy policy และสิ่งที่แอปทำจริง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Content rating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ตอบแบบสอบถาม IARC → ได้เรตอัตโนมัติ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ไม่กรอก = ถูกถอดจากสโตร์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App access / Ads / Target audience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แอปต้อง login ไหม (ให้บัญชีทดสอบ) · มีโฆษณาไหม · อายุกลุ่มเป้าหมาย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ระบุว่ามีเด็กเป็นกลุ่มเป้าหมาย = กติกาเพิ่มเยอะ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 18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คอร์สเขียน App ครบวงจร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MODULE 3 · PITFALLS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Google Play: โดน reject เพราะอะไรบ่อยที่สุด (จากของจริง)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1004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594360" cy="59436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774" y="193761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645920"/>
            <a:ext cx="422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ไอคอนที่ติดตั้งไม่ตรงกับหน้าร้าน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029968"/>
            <a:ext cx="422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ลืมเปลี่ยน mipmap/ic_launcher ยังเป็นโลโก้ Flutter → "Misleading claims" · เช็ค md5 ไอคอนก่อนอัปทุกครั้ง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33008" y="1463040"/>
            <a:ext cx="541004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61608" y="1783080"/>
            <a:ext cx="594360" cy="59436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141" y="193761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38848" y="1645920"/>
            <a:ext cx="422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Data safety ไม่ตรง privacy policy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238848" y="2029968"/>
            <a:ext cx="422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บอกว่าไม่เก็บข้อมูล แต่แอปมี login/analytics · แก้ทั้งสองให้ตรงกัน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2880360"/>
            <a:ext cx="541004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200400"/>
            <a:ext cx="594360" cy="59436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4" y="335493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063240"/>
            <a:ext cx="422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ไม่มีทางลบบัญชี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3447288"/>
            <a:ext cx="422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แอปที่มี account ต้องมีปุ่มลบในแอป + URL ลบบัญชีบนเว็บ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33008" y="2880360"/>
            <a:ext cx="541004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61608" y="3200400"/>
            <a:ext cx="594360" cy="59436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141" y="335493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38848" y="3063240"/>
            <a:ext cx="422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ให้บัญชีทดสอบไม่ได้/ผิด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7238848" y="3447288"/>
            <a:ext cx="422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reviewer เข้าหน้าหลังล็อกอินไม่ได้ = ตรวจไม่ได้ = reject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4297680"/>
            <a:ext cx="541004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77240" y="4617720"/>
            <a:ext cx="594360" cy="59436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774" y="477225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554480" y="4480560"/>
            <a:ext cx="422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สกรีนช็อต/คำอธิบายสัญญาเกินจริง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1554480" y="4864608"/>
            <a:ext cx="422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ภาพที่ไม่มีในแอป, คำว่า "ดีที่สุด/อันดับ 1" โดยไม่มีหลักฐาน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233008" y="4297680"/>
            <a:ext cx="541004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61608" y="4617720"/>
            <a:ext cx="594360" cy="594360"/>
          </a:xfrm>
          <a:prstGeom prst="ellipse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6141" y="4772254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238848" y="4480560"/>
            <a:ext cx="422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targetSdk ต่ำกว่ากำหนด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7238848" y="4864608"/>
            <a:ext cx="422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อัปโหลดถูกปฏิเสธทันที · อัป Flutter/Gradle ให้ทันก่อน deadline ประจำปี (ส.ค.)</a:t>
            </a:r>
            <a:endParaRPr lang="en-US" sz="115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คอร์สเขียน App ครบวงจร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C1C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โมดูล 4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ปล่อยแอปบน App Store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Apple Developer Program → certificate &amp; provisioning → TestFlight → App Store Connect → Review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Apple เข้มกว่า Google เรื่อง privacy, login และคำที่ใช้ในหน้าร้าน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31375" y="2194560"/>
            <a:ext cx="2011680" cy="2011680"/>
          </a:xfrm>
          <a:prstGeom prst="ellipse">
            <a:avLst/>
          </a:prstGeom>
          <a:solidFill>
            <a:srgbClr val="3A3A3C"/>
          </a:solidFill>
          <a:ln w="12700">
            <a:solidFill>
              <a:srgbClr val="3A3A3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4412" y="2717597"/>
            <a:ext cx="965606" cy="96560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MODULE 4 · APP STORE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Apple Developer Program และการเซ็นแอปแบบเข้าใจง่าย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15258" cy="1554480"/>
          </a:xfrm>
          <a:prstGeom prst="roundRect">
            <a:avLst>
              <a:gd name="adj" fmla="val 7059"/>
            </a:avLst>
          </a:prstGeom>
          <a:solidFill>
            <a:srgbClr val="F2F2F7"/>
          </a:solidFill>
          <a:ln w="9525">
            <a:solidFill>
              <a:srgbClr val="F2F2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$99/ปี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Apple Developer Program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33472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บุคคลหรือองค์กร (องค์กรต้องมี D-U-N-S)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38218" y="1463040"/>
            <a:ext cx="3515258" cy="1554480"/>
          </a:xfrm>
          <a:prstGeom prst="roundRect">
            <a:avLst>
              <a:gd name="adj" fmla="val 7059"/>
            </a:avLst>
          </a:prstGeom>
          <a:solidFill>
            <a:srgbClr val="F2F2F7"/>
          </a:solidFill>
          <a:ln w="9525">
            <a:solidFill>
              <a:srgbClr val="F2F2F7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12538" y="160020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Mac + Xcode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4612538" y="233172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บังคับ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612538" y="2633472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build iOS ต้องทำบน Mac เท่านั้น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27797" y="1463040"/>
            <a:ext cx="3515258" cy="1554480"/>
          </a:xfrm>
          <a:prstGeom prst="roundRect">
            <a:avLst>
              <a:gd name="adj" fmla="val 7059"/>
            </a:avLst>
          </a:prstGeom>
          <a:solidFill>
            <a:srgbClr val="F2F2F7"/>
          </a:solidFill>
          <a:ln w="9525">
            <a:solidFill>
              <a:srgbClr val="F2F2F7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02117" y="1600200"/>
            <a:ext cx="296661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333333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24–48 ชม.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402117" y="2331720"/>
            <a:ext cx="29666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review โดยทั่วไป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402117" y="2633472"/>
            <a:ext cx="296661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ครั้งแรกอาจนานกว่า · เร่งได้ (expedite) กรณีจำเป็น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291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 คำที่ต้องเข้าใจ (Xcode ทำให้เองเมื่อเปิด Automatic signing)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3749040"/>
            <a:ext cx="3515258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77240" y="3977640"/>
            <a:ext cx="594360" cy="594360"/>
          </a:xfrm>
          <a:prstGeom prst="ellipse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774" y="4132174"/>
            <a:ext cx="285293" cy="285293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508760" y="4069080"/>
            <a:ext cx="2326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Bundle ID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777240" y="4572000"/>
            <a:ext cx="30580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ชื่อแอปแบบ reverse-domain เช่น com.oneable.learnTodo · ต้องตรงกันทั้ง Xcode และ App Store Connect · เปลี่ยนไม่ได้หลังปล่อย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338218" y="3749040"/>
            <a:ext cx="3515258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566818" y="3977640"/>
            <a:ext cx="594360" cy="594360"/>
          </a:xfrm>
          <a:prstGeom prst="ellipse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1352" y="4132174"/>
            <a:ext cx="285293" cy="285293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5298338" y="4069080"/>
            <a:ext cx="2326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Certificate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4566818" y="4572000"/>
            <a:ext cx="30580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"ตัวตนของนักพัฒนา" · Development ใช้ลงเครื่องทดสอบ · Distribution ใช้ส่งสโตร์ · อยู่ใน Keychain ของ Mac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8127797" y="3749040"/>
            <a:ext cx="3515258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8356397" y="3977640"/>
            <a:ext cx="594360" cy="594360"/>
          </a:xfrm>
          <a:prstGeom prst="ellipse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0930" y="4132174"/>
            <a:ext cx="285293" cy="285293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9087917" y="4069080"/>
            <a:ext cx="232653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Provisioning profile</a:t>
            </a:r>
            <a:endParaRPr lang="en-US" sz="1500" dirty="0"/>
          </a:p>
        </p:txBody>
      </p:sp>
      <p:sp>
        <p:nvSpPr>
          <p:cNvPr id="31" name="Text 26"/>
          <p:cNvSpPr txBox="1"/>
          <p:nvPr/>
        </p:nvSpPr>
        <p:spPr>
          <a:xfrm>
            <a:off x="8356397" y="4572000"/>
            <a:ext cx="305805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"ใบอนุญาต" ผูก Bundle ID + certificate (+ รายการเครื่องสำหรับ dev) · App Store profile ใช้กับ archive เท่านั้น</a:t>
            </a:r>
            <a:endParaRPr lang="en-US" sz="1150" dirty="0"/>
          </a:p>
        </p:txBody>
      </p:sp>
      <p:sp>
        <p:nvSpPr>
          <p:cNvPr id="32" name="Text 27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คอร์สเขียน App ครบวงจร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MODULE 4 · APP STORE CONNECT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 archive ถึง "Ready for Sale"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999427" cy="2743200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82594" y="1737360"/>
            <a:ext cx="731520" cy="731520"/>
          </a:xfrm>
          <a:prstGeom prst="ellipse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2789" y="1927555"/>
            <a:ext cx="351130" cy="3511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606040"/>
            <a:ext cx="17251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Archive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017520"/>
            <a:ext cx="163366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flutter build ipa --release --dart-define=API_URL=…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(หรือ Xcode → Product → Archive)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48067" y="210312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822387" y="1463040"/>
            <a:ext cx="1999427" cy="2743200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56341" y="1737360"/>
            <a:ext cx="731520" cy="731520"/>
          </a:xfrm>
          <a:prstGeom prst="ellipse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536" y="1927555"/>
            <a:ext cx="351130" cy="35113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959547" y="2606040"/>
            <a:ext cx="17251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Upload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3005267" y="3017520"/>
            <a:ext cx="163366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Xcode Organizer / Transporter / xcrun altool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 processing ~10–30 นาที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821814" y="210312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5096134" y="1463040"/>
            <a:ext cx="1999427" cy="2743200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5730088" y="1737360"/>
            <a:ext cx="731520" cy="731520"/>
          </a:xfrm>
          <a:prstGeom prst="ellipse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283" y="1927555"/>
            <a:ext cx="351130" cy="35113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233294" y="2606040"/>
            <a:ext cx="17251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TestFlight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5279014" y="3017520"/>
            <a:ext cx="163366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Internal ≤100 คน ทันที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External ≤10,000 คน ต้องผ่าน beta review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7095561" y="210312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7369881" y="1463040"/>
            <a:ext cx="1999427" cy="2743200"/>
          </a:xfrm>
          <a:prstGeom prst="roundRect">
            <a:avLst>
              <a:gd name="adj" fmla="val 5488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8003835" y="1737360"/>
            <a:ext cx="731520" cy="731520"/>
          </a:xfrm>
          <a:prstGeom prst="ellipse">
            <a:avLst/>
          </a:prstGeom>
          <a:solidFill>
            <a:srgbClr val="F2F2F7"/>
          </a:solidFill>
          <a:ln w="12700">
            <a:solidFill>
              <a:srgbClr val="F2F2F7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4030" y="1927555"/>
            <a:ext cx="351130" cy="35113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507041" y="2606040"/>
            <a:ext cx="17251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 record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7552761" y="3017520"/>
            <a:ext cx="163366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ชื่อ · subtitle · keywords · สกรีนช็อต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privacy label · age rating · ราคา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9369308" y="210312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9643628" y="1463040"/>
            <a:ext cx="1999427" cy="2743200"/>
          </a:xfrm>
          <a:prstGeom prst="roundRect">
            <a:avLst>
              <a:gd name="adj" fmla="val 5488"/>
            </a:avLst>
          </a:prstGeom>
          <a:solidFill>
            <a:srgbClr val="333333"/>
          </a:solidFill>
          <a:ln w="9525">
            <a:solidFill>
              <a:srgbClr val="333333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10277582" y="1737360"/>
            <a:ext cx="731520" cy="731520"/>
          </a:xfrm>
          <a:prstGeom prst="ellipse">
            <a:avLst/>
          </a:prstGeom>
          <a:solidFill>
            <a:srgbClr val="4A4A4E"/>
          </a:solidFill>
          <a:ln w="12700">
            <a:solidFill>
              <a:srgbClr val="4A4A4E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7777" y="1927555"/>
            <a:ext cx="351130" cy="35113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780788" y="2606040"/>
            <a:ext cx="172510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Submit review</a:t>
            </a:r>
            <a:endParaRPr lang="en-US" sz="1500" dirty="0"/>
          </a:p>
        </p:txBody>
      </p:sp>
      <p:sp>
        <p:nvSpPr>
          <p:cNvPr id="32" name="Text 25"/>
          <p:cNvSpPr txBox="1"/>
          <p:nvPr/>
        </p:nvSpPr>
        <p:spPr>
          <a:xfrm>
            <a:off x="9826508" y="3017520"/>
            <a:ext cx="1633667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E5E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แนบบัญชีทดสอบ + โน้ตให้ reviewer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5E5E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สถานะ Waiting → In Review → Ready</a:t>
            </a:r>
            <a:endParaRPr lang="en-US" sz="1100" dirty="0"/>
          </a:p>
        </p:txBody>
      </p:sp>
      <p:sp>
        <p:nvSpPr>
          <p:cNvPr id="33" name="Text 26"/>
          <p:cNvSpPr txBox="1"/>
          <p:nvPr/>
        </p:nvSpPr>
        <p:spPr>
          <a:xfrm>
            <a:off x="548640" y="4480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สกรีนช็อตที่บังคับ</a:t>
            </a:r>
            <a:endParaRPr lang="en-US" sz="1500" dirty="0"/>
          </a:p>
        </p:txBody>
      </p:sp>
      <p:sp>
        <p:nvSpPr>
          <p:cNvPr id="34" name="Text 27"/>
          <p:cNvSpPr txBox="1"/>
          <p:nvPr/>
        </p:nvSpPr>
        <p:spPr>
          <a:xfrm>
            <a:off x="548640" y="484632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iPhone 6.9" (1320×2868) หรือ 6.7" (1290×2796) อย่างน้อย 1 ชุด (3–10 รูป) · Apple ย่อให้จอเล็กเอง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ถ้ารองรับ iPad ต้องมีชุด iPad 13" (2064×2752) ด้วย — หรือปิด iPad ใน Xcode ถ้ายังไม่พร้อม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ห้ามใส่กรอบมือถือที่บังเนื้อหา/ข้อความสัญญาเกินจริง · ภาพต้องเป็นหน้าจอจริงของแอป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คอร์สเขียน App ครบวงจร</a:t>
            </a:r>
            <a:endParaRPr lang="en-US" sz="900" dirty="0"/>
          </a:p>
        </p:txBody>
      </p:sp>
      <p:sp>
        <p:nvSpPr>
          <p:cNvPr id="36" name="Text 29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MODULE 4 · REVIEW GUIDELINES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กติกา Apple ที่แอปเล็ก ๆ ก็ต้องทำให้ครบ</a:t>
            </a:r>
            <a:endParaRPr lang="en-US" sz="3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5120640"/>
                <a:gridCol w="48737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ข้อ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กติกา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ทำอย่างไรในแอปเรา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5.1.1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Privacy policy URL + App Privacy "nutrition label" ตรงกับที่เก็บจริง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กรอกใน App Store Connect → App Privacy · ถ้าใช้ analytics/crash ต้องประกาศ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5.1.1 (v)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แอปที่สร้างบัญชีได้ ต้องลบบัญชีได้จากในแอป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ปุ่ม "ลบบัญชี" ใน Settings + API ลบข้อมูลจริง ไม่ใช่แค่ logout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4.8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มี login ด้วย Google/Facebook → ต้องมี Sign in with Apple ด้วย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ยกเว้นเมื่อใช้แค่ email/รหัสผ่านของเราเอง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2.1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แอปต้องทำงานครบ ไม่ crash ไม่มีปุ่ม "coming soon"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reviewer ใช้เครื่องจริง เน็ตอเมริกา — API ต้องเข้าถึงได้จากต่างประเทศ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5.2.5 / 2.3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Metadata: ห้ามใช้ชื่อ Mac/iPhone/AirDrop ใน subtitle/keywords · สกรีนช็อตต้องตรงแอป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ตรวจข้อความทุกภาษาก่อนส่ง · description อ้างถึงได้แต่ชื่อ/keyword ไม่ได้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3.1.1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ของดิจิทัลที่ขายในแอปต้องผ่าน In-App Purchase (Apple หัก 15–30%)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สินค้ากายภาพ/บริการนอกแอปใช้ payment อื่นได้</a:t>
                      </a:r>
                      <a:endParaRPr lang="en-US" sz="115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คอร์สเขียน App ครบวงจร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MODULE 4 · PITFALLS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 Store: reject ที่เจอจริงและวิธีแก้ทันที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1004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83080"/>
            <a:ext cx="594360" cy="59436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774" y="193761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645920"/>
            <a:ext cx="422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ไอคอนมี alpha channel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2029968"/>
            <a:ext cx="422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 Store icon 1024×1024 ต้องทึบ ไม่มีโปร่งใส/มุมมน (Apple ตัดมุมให้เอง) → upload ถูกปฏิเสธเลย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33008" y="1463040"/>
            <a:ext cx="541004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61608" y="1783080"/>
            <a:ext cx="594360" cy="59436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6141" y="193761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38848" y="1645920"/>
            <a:ext cx="422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จอขาววาบตอนเปิด (launch screen)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238848" y="2029968"/>
            <a:ext cx="422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LaunchScreen.storyboard ยังเป็นค่าเริ่มต้น · ตั้งสีพื้นให้ตรงธีมแอป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2880360"/>
            <a:ext cx="541004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200400"/>
            <a:ext cx="594360" cy="59436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4" y="335493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063240"/>
            <a:ext cx="422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ไม่มี URL ลบบัญชี / ปุ่มลบบัญชี</a:t>
            </a:r>
            <a:endParaRPr lang="en-US" sz="140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3447288"/>
            <a:ext cx="422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Guideline 5.1.1(v) — reject ที่พบบ่อยสุดของแอปที่มี login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33008" y="2880360"/>
            <a:ext cx="541004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61608" y="3200400"/>
            <a:ext cx="594360" cy="59436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6141" y="3354934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38848" y="3063240"/>
            <a:ext cx="422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คำต้องห้ามใน subtitle/keywords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7238848" y="3447288"/>
            <a:ext cx="422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ตัดชื่อสินค้า Apple ออกทุกภาษา แล้ว resubmit (ต้อง cancel submission เดิมก่อน)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4297680"/>
            <a:ext cx="541004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77240" y="4617720"/>
            <a:ext cx="594360" cy="59436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1774" y="4772254"/>
            <a:ext cx="285293" cy="285293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554480" y="4480560"/>
            <a:ext cx="422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reviewer เข้าไม่ได้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1554480" y="4864608"/>
            <a:ext cx="422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API หลับ (แผนฟรี) / บล็อก IP ต่างประเทศ / บัญชีทดสอบผิด → เตรียมบัญชี demo + ปลุก server ก่อนส่ง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6233008" y="4297680"/>
            <a:ext cx="5410048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461608" y="4617720"/>
            <a:ext cx="594360" cy="594360"/>
          </a:xfrm>
          <a:prstGeom prst="ellipse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6141" y="4772254"/>
            <a:ext cx="285293" cy="285293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7238848" y="4480560"/>
            <a:ext cx="4221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ข้อความในสโตร์เกินตัวอักษร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7238848" y="4864608"/>
            <a:ext cx="42213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ชื่อ 30 · subtitle 30 · keywords 100 · promo 170 — เกินแล้วบันทึกไม่ได้ ไม่ใช่ reject แต่เสียเวลา</a:t>
            </a:r>
            <a:endParaRPr lang="en-US" sz="1150" dirty="0"/>
          </a:p>
        </p:txBody>
      </p:sp>
      <p:sp>
        <p:nvSpPr>
          <p:cNvPr id="34" name="Text 26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คอร์สเขียน App ครบวงจร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0116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โมดูล 5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4688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หลังปล่อยแอป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อัปเดตเวอร์ชันอย่างมีระบบ · ดู crash และรีวิว · รับมือจดหมายนโยบายจากสโตร์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แอปที่ปล่อยแล้ว "ไม่ดูแล" จะถูกถอดจากสโตร์ภายใน 1–2 ปี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631375" y="2194560"/>
            <a:ext cx="2011680" cy="2011680"/>
          </a:xfrm>
          <a:prstGeom prst="ellipse">
            <a:avLst/>
          </a:prstGeom>
          <a:solidFill>
            <a:srgbClr val="1F6B7C"/>
          </a:solidFill>
          <a:ln w="12700">
            <a:solidFill>
              <a:srgbClr val="1F6B7C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54412" y="2717597"/>
            <a:ext cx="965606" cy="96560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MODULE 5 · OPERATIONS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วงจรอัปเดตที่ทำซ้ำได้ทุกเดือน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" cy="548640"/>
          </a:xfrm>
          <a:prstGeom prst="ellipse">
            <a:avLst/>
          </a:prstGeom>
          <a:solidFill>
            <a:srgbClr val="DDF7F0"/>
          </a:solidFill>
          <a:ln w="12700">
            <a:solidFill>
              <a:srgbClr val="DDF7F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286" y="1605686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44475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แก้โค้ด + bump version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76479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pubspec: 1.2.0+7 → 1.2.1+8 (+N ทุกครั้ง) · commit tag v1.2.1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2304288"/>
            <a:ext cx="548640" cy="548640"/>
          </a:xfrm>
          <a:prstGeom prst="ellipse">
            <a:avLst/>
          </a:prstGeom>
          <a:solidFill>
            <a:srgbClr val="DDF7F0"/>
          </a:solidFill>
          <a:ln w="12700">
            <a:solidFill>
              <a:srgbClr val="DDF7F0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286" y="2446934"/>
            <a:ext cx="263347" cy="26334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325880" y="22860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Internal / TestFlight ก่อนเสมอ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1325880" y="26060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ห้ามยิงตรง production · ทีมลองบนเครื่องจริง 1 วัน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3145536"/>
            <a:ext cx="548640" cy="548640"/>
          </a:xfrm>
          <a:prstGeom prst="ellipse">
            <a:avLst/>
          </a:prstGeom>
          <a:solidFill>
            <a:srgbClr val="DDF7F0"/>
          </a:solidFill>
          <a:ln w="12700">
            <a:solidFill>
              <a:srgbClr val="DDF7F0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3288182"/>
            <a:ext cx="263347" cy="26334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25880" y="312724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 crash / รีวิว / ANR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1325880" y="344728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Play Console → Vitals · App Store Connect → Crashes · ตอบรีวิวลบภายใน 48 ชม.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548640" y="3986784"/>
            <a:ext cx="548640" cy="548640"/>
          </a:xfrm>
          <a:prstGeom prst="ellipse">
            <a:avLst/>
          </a:prstGeom>
          <a:solidFill>
            <a:srgbClr val="DDF7F0"/>
          </a:solidFill>
          <a:ln w="12700">
            <a:solidFill>
              <a:srgbClr val="DDF7F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" y="4129430"/>
            <a:ext cx="263347" cy="26334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325880" y="396849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อ่านเมลนโยบายทันที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1325880" y="428853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target API deadline · Billing Library · privacy form ใหม่ — มักให้เวลา 2–3 เดือน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4828032"/>
            <a:ext cx="548640" cy="548640"/>
          </a:xfrm>
          <a:prstGeom prst="ellipse">
            <a:avLst/>
          </a:prstGeom>
          <a:solidFill>
            <a:srgbClr val="DDF7F0"/>
          </a:solidFill>
          <a:ln w="12700">
            <a:solidFill>
              <a:srgbClr val="DDF7F0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286" y="4970678"/>
            <a:ext cx="263347" cy="263347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325880" y="480974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ดู server ควบคู่</a:t>
            </a:r>
            <a:endParaRPr lang="en-US" sz="1400" dirty="0"/>
          </a:p>
        </p:txBody>
      </p:sp>
      <p:sp>
        <p:nvSpPr>
          <p:cNvPr id="23" name="Text 16"/>
          <p:cNvSpPr txBox="1"/>
          <p:nvPr/>
        </p:nvSpPr>
        <p:spPr>
          <a:xfrm>
            <a:off x="1325880" y="5129784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health check อัตโนมัติ · DB ฟรีหมดอายุ 30 วัน → ย้ายขึ้นแผนจ่าย/VPS เมื่อมีผู้ใช้จริง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7498080" y="1463040"/>
            <a:ext cx="4663440" cy="4114800"/>
          </a:xfrm>
          <a:prstGeom prst="roundRect">
            <a:avLst>
              <a:gd name="adj" fmla="val 2667"/>
            </a:avLst>
          </a:prstGeom>
          <a:solidFill>
            <a:srgbClr val="1E2761"/>
          </a:solidFill>
          <a:ln w="9525">
            <a:solidFill>
              <a:srgbClr val="1E2761"/>
            </a:solidFill>
            <a:prstDash val="solid"/>
          </a:ln>
        </p:spPr>
      </p:sp>
      <p:sp>
        <p:nvSpPr>
          <p:cNvPr id="25" name="Text 18"/>
          <p:cNvSpPr txBox="1"/>
          <p:nvPr/>
        </p:nvSpPr>
        <p:spPr>
          <a:xfrm>
            <a:off x="7772400" y="1737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กติกาเวอร์ชัน (จำให้ขึ้นใจ)</a:t>
            </a:r>
            <a:endParaRPr lang="en-US" sz="1600" dirty="0"/>
          </a:p>
        </p:txBody>
      </p:sp>
      <p:sp>
        <p:nvSpPr>
          <p:cNvPr id="26" name="Text 19"/>
          <p:cNvSpPr txBox="1"/>
          <p:nvPr/>
        </p:nvSpPr>
        <p:spPr>
          <a:xfrm>
            <a:off x="7772400" y="219456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version: 1.2.1+8</a:t>
            </a:r>
            <a:endParaRPr lang="en-US" sz="125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1.2.1 = versionName / CFBundleShortVersionString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ผู้ใช้เห็น · ขยับเมื่อมีของใหม่</a:t>
            </a:r>
            <a:endParaRPr lang="en-US" sz="125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 = versionCode / CFBundleVersion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สโตร์ใช้เรียงลำดับ · เพิ่มทุกอัปโหลด ห้ามซ้ำ ห้ามถอย</a:t>
            </a:r>
            <a:endParaRPr lang="en-US" sz="1250" dirty="0"/>
          </a:p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อ่านจาก pubspec.yaml ที่เดียว — ในแอปใช้ package_info_plus ห้าม hardcode</a:t>
            </a:r>
            <a:endParaRPr lang="en-US" sz="1250" dirty="0"/>
          </a:p>
        </p:txBody>
      </p:sp>
      <p:sp>
        <p:nvSpPr>
          <p:cNvPr id="27" name="Text 20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คอร์สเขียน App ครบวงจร</a:t>
            </a:r>
            <a:endParaRPr lang="en-US" sz="900" dirty="0"/>
          </a:p>
        </p:txBody>
      </p:sp>
      <p:sp>
        <p:nvSpPr>
          <p:cNvPr id="28" name="Text 21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MODULE 5 · COMPARE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Google Play vs App Store — สรุปเทียบในหน้าเดียว</a:t>
            </a:r>
            <a:endParaRPr lang="en-US" sz="30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297680"/>
                <a:gridCol w="4416552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Google Play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App Store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ค่าสมัคร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$25 ครั้งเดียว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$99 ต่อปี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เครื่องที่ใช้ build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Windows / Mac / Linux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Mac เท่านั้น (Xcode)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ไฟล์ที่ส่ง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.aab (Android App Bundle)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.ipa (ผ่าน Xcode / Transporter / altool)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ทดสอบก่อนปล่อย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Internal → Closed (12 คน 14 วัน) → Open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TestFlight internal (100) → external (10,000)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เวลา review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ครั้งแรก 3–7 วัน · ถัดไปหลักชั่วโมง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24–48 ชม. โดยทั่วไป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จุดเข้มพิเศษ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Data safety · target API · ไอคอนตรงหน้าร้าน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Privacy label · ลบบัญชี · Sign in with Apple · คำในหน้าร้าน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ส่วนแบ่งการขายในแอป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15% (ถึง $1M/ปี) แล้ว 30%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15% (Small Business) แล้ว 30%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D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ปล่อยแบบทยอย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Staged rollout เป็น %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Phased release 7 วัน</a:t>
                      </a:r>
                      <a:endParaRPr lang="en-US" sz="12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คอร์สเขียน App ครบวงจร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MODULE 5 · TIMELINE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ของจริงใช้เวลาเท่าไร: จากโค้ดบรรทัดแรกถึงแอปอยู่บนสโตร์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94415" cy="0"/>
          </a:xfrm>
          <a:prstGeom prst="line">
            <a:avLst/>
          </a:prstGeom>
          <a:noFill/>
          <a:ln w="381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365760" cy="36576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28600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สัปดาห์ 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651760"/>
            <a:ext cx="2567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เขียนแอป 4 ชั้น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08960"/>
            <a:ext cx="2384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DB · API · web · mobile ทำงานในเครื่อง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82264" y="1783080"/>
            <a:ext cx="365760" cy="365760"/>
          </a:xfrm>
          <a:prstGeom prst="ellipse">
            <a:avLst/>
          </a:prstGeom>
          <a:solidFill>
            <a:srgbClr val="1E276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90824" y="228600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สัปดาห์ 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390824" y="2651760"/>
            <a:ext cx="2567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Deploy + เตรียมสโตร์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390824" y="3108960"/>
            <a:ext cx="2384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Render live · ไอคอน · สกรีนช็อต · privacy policy · สมัคร 2 บัญชี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24448" y="1783080"/>
            <a:ext cx="365760" cy="365760"/>
          </a:xfrm>
          <a:prstGeom prst="ellipse">
            <a:avLst/>
          </a:prstGeom>
          <a:solidFill>
            <a:srgbClr val="01875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33008" y="228600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1875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สัปดาห์ 3–4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233008" y="2651760"/>
            <a:ext cx="2567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Testing track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233008" y="3108960"/>
            <a:ext cx="2384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Internal + TestFlight · Closed testing 14 วัน (Google บังคับ)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66631" y="1783080"/>
            <a:ext cx="365760" cy="365760"/>
          </a:xfrm>
          <a:prstGeom prst="ellipse">
            <a:avLst/>
          </a:prstGeom>
          <a:solidFill>
            <a:srgbClr val="02C39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075191" y="2286000"/>
            <a:ext cx="25678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สัปดาห์ 5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9075191" y="2651760"/>
            <a:ext cx="2567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Review + ปล่อย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9075191" y="3108960"/>
            <a:ext cx="23849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ส่ง 2 สโตร์พร้อมกัน · แก้ reject 1–2 รอบ · Ready for Sale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2976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 w="9525">
            <a:solidFill>
              <a:srgbClr val="EEF3F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438912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14 วัน</a:t>
            </a:r>
            <a:endParaRPr lang="en-US" sz="30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07492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ที่ตัดไม่ได้ของ Google (closed testing)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338218" y="42976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 w="9525">
            <a:solidFill>
              <a:srgbClr val="EEF3F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66818" y="438912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1–2 รอบ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4566818" y="507492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reject ที่ควรเผื่อไว้ในแผน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127797" y="4297680"/>
            <a:ext cx="3515258" cy="1371600"/>
          </a:xfrm>
          <a:prstGeom prst="roundRect">
            <a:avLst>
              <a:gd name="adj" fmla="val 8000"/>
            </a:avLst>
          </a:prstGeom>
          <a:solidFill>
            <a:srgbClr val="EEF3FD"/>
          </a:solidFill>
          <a:ln w="9525">
            <a:solidFill>
              <a:srgbClr val="EEF3F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356397" y="438912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~5 สัปดาห์</a:t>
            </a:r>
            <a:endParaRPr lang="en-US" sz="3000" dirty="0"/>
          </a:p>
        </p:txBody>
      </p:sp>
      <p:sp>
        <p:nvSpPr>
          <p:cNvPr id="29" name="Text 27"/>
          <p:cNvSpPr txBox="1"/>
          <p:nvPr/>
        </p:nvSpPr>
        <p:spPr>
          <a:xfrm>
            <a:off x="8356397" y="5074920"/>
            <a:ext cx="305805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จากศูนย์ถึงสโตร์ สำหรับแอปแรก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คอร์สเขียน App ครบวงจร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ASSESSMENT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03504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การประเมิน: ส่งลิงก์จริง ไม่ส่งสไลด์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4415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627632"/>
            <a:ext cx="594360" cy="594360"/>
          </a:xfrm>
          <a:prstGeom prst="ellipse">
            <a:avLst/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1774" y="1782166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60020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URL เว็บ + API บน Render (30%)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19659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health ok · CRUD ครบ · เว็บชี้ API ถูกตัว · ผู้สอนยิง curl ทดสอบเอง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514600"/>
            <a:ext cx="11094415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777240" y="2679192"/>
            <a:ext cx="594360" cy="594360"/>
          </a:xfrm>
          <a:prstGeom prst="ellipse">
            <a:avLst/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774" y="2833726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554480" y="26517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ลิงก์ Internal/Closed testing บน Play (25%)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1554480" y="30175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ผู้สอนติดตั้งจากลิงก์ได้ · ไอคอนถูก · versionCode เพิ่มจากรอบก่อน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566160"/>
            <a:ext cx="11094415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730752"/>
            <a:ext cx="594360" cy="594360"/>
          </a:xfrm>
          <a:prstGeom prst="ellipse">
            <a:avLst/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74" y="3885286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554480" y="37033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TestFlight invite (25%)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554480" y="40690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ผู้สอนติดตั้งผ่าน TestFlight ได้ · privacy label กรอกแล้ว · สกรีนช็อตครบ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548640" y="4617720"/>
            <a:ext cx="11094415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782312"/>
            <a:ext cx="594360" cy="594360"/>
          </a:xfrm>
          <a:prstGeom prst="ellipse">
            <a:avLst/>
          </a:prstGeom>
          <a:solidFill>
            <a:srgbClr val="EEF3FD"/>
          </a:solidFill>
          <a:ln w="12700">
            <a:solidFill>
              <a:srgbClr val="EEF3FD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4" y="4936846"/>
            <a:ext cx="285293" cy="285293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54480" y="475488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README + postmortem 1 หน้า (20%)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1554480" y="51206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อธิบาย env ทุกตัว · reject ที่เจอและวิธีแก้ · สิ่งที่จะทำต่างในแอปถัดไป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5715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โบนัส: ปล่อยถึง production จริงบนสโตร์ใดสโตร์หนึ่ง +10%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548640" y="6446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คอร์สเขียน App ครบวงจร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10728655" y="6446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แอปที่ "เสร็จ" คือแอปที่คนอื่นติดตั้งใช้ได้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502920" cy="502920"/>
          </a:xfrm>
          <a:prstGeom prst="ellipse">
            <a:avLst/>
          </a:prstGeom>
          <a:solidFill>
            <a:srgbClr val="2B3A80"/>
          </a:solidFill>
          <a:ln w="12700">
            <a:solidFill>
              <a:srgbClr val="2B3A8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9399" y="2416759"/>
            <a:ext cx="241402" cy="2414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235915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เขียน 4 ชั้นให้คุยกันด้วย JSON + SQL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944368"/>
            <a:ext cx="502920" cy="502920"/>
          </a:xfrm>
          <a:prstGeom prst="ellipse">
            <a:avLst/>
          </a:prstGeom>
          <a:solidFill>
            <a:srgbClr val="2B3A80"/>
          </a:solidFill>
          <a:ln w="12700">
            <a:solidFill>
              <a:srgbClr val="2B3A8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99" y="3075127"/>
            <a:ext cx="241402" cy="24140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3017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Deploy แล้วพิสูจน์ด้วย curl ไม่ใช่ build ผ่าน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48640" y="3602736"/>
            <a:ext cx="502920" cy="502920"/>
          </a:xfrm>
          <a:prstGeom prst="ellipse">
            <a:avLst/>
          </a:prstGeom>
          <a:solidFill>
            <a:srgbClr val="2B3A80"/>
          </a:solidFill>
          <a:ln w="12700">
            <a:solidFill>
              <a:srgbClr val="2B3A80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" y="3733495"/>
            <a:ext cx="241402" cy="24140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80160" y="367588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Play: ไอคอน · Data safety · closed testing 14 วัน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548640" y="4261104"/>
            <a:ext cx="502920" cy="502920"/>
          </a:xfrm>
          <a:prstGeom prst="ellipse">
            <a:avLst/>
          </a:prstGeom>
          <a:solidFill>
            <a:srgbClr val="2B3A80"/>
          </a:solidFill>
          <a:ln w="12700">
            <a:solidFill>
              <a:srgbClr val="2B3A80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" y="4391863"/>
            <a:ext cx="241402" cy="24140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280160" y="433425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Apple: privacy label · ลบบัญชี · คำในหน้าร้าน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548640" y="4919472"/>
            <a:ext cx="502920" cy="502920"/>
          </a:xfrm>
          <a:prstGeom prst="ellipse">
            <a:avLst/>
          </a:prstGeom>
          <a:solidFill>
            <a:srgbClr val="2B3A80"/>
          </a:solidFill>
          <a:ln w="12700">
            <a:solidFill>
              <a:srgbClr val="2B3A80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99" y="5050231"/>
            <a:ext cx="241402" cy="24140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280160" y="499262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หลังปล่อย: +N ทุกอัปโหลด · internal ก่อน production เสมอ</a:t>
            </a:r>
            <a:endParaRPr lang="en-US" sz="1600" dirty="0"/>
          </a:p>
        </p:txBody>
      </p:sp>
      <p:sp>
        <p:nvSpPr>
          <p:cNvPr id="19" name="Shape 12"/>
          <p:cNvSpPr/>
          <p:nvPr/>
        </p:nvSpPr>
        <p:spPr>
          <a:xfrm>
            <a:off x="7619695" y="2286000"/>
            <a:ext cx="4023360" cy="3200400"/>
          </a:xfrm>
          <a:prstGeom prst="roundRect">
            <a:avLst>
              <a:gd name="adj" fmla="val 3429"/>
            </a:avLst>
          </a:prstGeom>
          <a:solidFill>
            <a:srgbClr val="2B3A80"/>
          </a:solidFill>
          <a:ln w="9525">
            <a:solidFill>
              <a:srgbClr val="2B3A80"/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7894015" y="2468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ทรัพยากรประกอบคอร์ส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7894015" y="288036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Repo ตัวอย่าง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github.com/snpeerapun/learn-fullstack-render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เว็บ / API ที่รันอยู่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learn-todo-web.onrender.com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learn-todo-api.onrender.com/api/health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เอกสารทางการ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render.com/docs · docs.flutter.dev/deployment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support.google.com/googleplay/android-developer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developer.apple.com/app-store/review/guidelines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คอร์สเขียน App ครบวงจร: Code → Deploy → Google Play → App Store</dc:title>
  <dc:subject>PptxGenJS Presentation</dc:subject>
  <dc:creator>PptxGenJS</dc:creator>
  <cp:lastModifiedBy>PptxGenJS</cp:lastModifiedBy>
  <cp:revision>1</cp:revision>
  <dcterms:created xsi:type="dcterms:W3CDTF">2026-09-22T10:59:38Z</dcterms:created>
  <dcterms:modified xsi:type="dcterms:W3CDTF">2026-09-22T10:59:38Z</dcterms:modified>
</cp:coreProperties>
</file>